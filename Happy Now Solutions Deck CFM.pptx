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78" r:id="rId3"/>
    <p:sldId id="257" r:id="rId4"/>
    <p:sldId id="277" r:id="rId5"/>
    <p:sldId id="276" r:id="rId6"/>
    <p:sldId id="27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52618FF-CB25-714A-8E48-17587C6CA39B}">
          <p14:sldIdLst>
            <p14:sldId id="256"/>
            <p14:sldId id="278"/>
            <p14:sldId id="257"/>
            <p14:sldId id="277"/>
            <p14:sldId id="276"/>
            <p14:sldId id="27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C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2"/>
    <p:restoredTop sz="94663"/>
  </p:normalViewPr>
  <p:slideViewPr>
    <p:cSldViewPr snapToGrid="0">
      <p:cViewPr>
        <p:scale>
          <a:sx n="118" d="100"/>
          <a:sy n="118" d="100"/>
        </p:scale>
        <p:origin x="15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7BBAF-897C-A74D-8415-BB06A74F7660}" type="datetimeFigureOut">
              <a:rPr lang="en-US" smtClean="0"/>
              <a:t>7/7/25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04173-D9FC-964E-ABC8-C877AE904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488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04173-D9FC-964E-ABC8-C877AE90458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6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77B92-FAF7-D5A2-B78D-581CFCAB1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3D12C-BF3E-67A2-151C-93AC03FD2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12386D-3FCC-3503-80B2-A0072931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64D1-F81A-DE42-A9BC-1FC492ECDBEC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E1A78-A514-3DE0-7CB4-EB70E9DF1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6EC90-76AE-2F0F-FFFC-C6EA02D1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F027-9E43-0C41-82C7-0323B49D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757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B190B-855C-D8DA-CE8D-D3E219DB7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40334-A415-FAFE-FE5E-79E10D6BC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2E9D8-FD79-82C2-8313-DE571E727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64D1-F81A-DE42-A9BC-1FC492ECDBEC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D774B-B718-AE92-351B-0ECDDA5B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3312D-0D6C-5BB2-3F42-68A70B25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F027-9E43-0C41-82C7-0323B49D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996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1C31-0233-35C3-5624-4D6B26AF7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384C2-C5FF-308E-6844-00A9D0750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63D5C-5EBF-E24E-4014-647F68788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64D1-F81A-DE42-A9BC-1FC492ECDBEC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820F7-1547-BAD7-DAD2-3E4096A3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6B835-DCE7-DD18-878C-A33C5E9BB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F027-9E43-0C41-82C7-0323B49D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4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A8E03-8A9F-48BE-4AE6-AEB99F31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5F153-16B4-C420-EA8A-AF4FD191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B7F3A-25A3-8E8C-AC2B-5BD356130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636E2-8267-9A55-BF4A-FEB2EB87C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64D1-F81A-DE42-A9BC-1FC492ECDBEC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0E1B8-9BC1-5F36-CA4B-F9D3FF89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09D55-059A-DC9B-0622-814CEE41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F027-9E43-0C41-82C7-0323B49D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04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3ECA-E8A6-0B8A-6004-24248B67E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34152-9ECF-973A-95F7-21E821E88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727D9D-87D5-2A57-5F77-768E34D0C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7F1656-B929-86DD-8D40-D3B44ED113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B9EE36-1AEE-D677-1C01-8DFA81FDC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55BFD-80F2-33EE-BC3F-997428936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64D1-F81A-DE42-A9BC-1FC492ECDBEC}" type="datetimeFigureOut">
              <a:rPr lang="en-US" smtClean="0"/>
              <a:t>7/7/25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417FC4-1F1D-17CA-2342-1BD8E0EC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8E4F2-5481-8BFC-FA59-AE498852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F027-9E43-0C41-82C7-0323B49D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77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36748-09EE-9C23-FAC9-FD845FE68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D1148A-AC5E-CB08-58C2-AA04E6C3B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64D1-F81A-DE42-A9BC-1FC492ECDBEC}" type="datetimeFigureOut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B32AC-BFBE-8C3C-54D7-9871348D9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B570F3-29E1-CBED-9220-0A09D41D5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F027-9E43-0C41-82C7-0323B49D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742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33763-8B11-BACA-1489-9069D1D5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64D1-F81A-DE42-A9BC-1FC492ECDBEC}" type="datetimeFigureOut">
              <a:rPr lang="en-US" smtClean="0"/>
              <a:t>7/7/25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4419B-53E5-11B2-14F9-A923AD29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12147-6020-3BA8-48FD-50144469C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F027-9E43-0C41-82C7-0323B49D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20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3677E-45B2-4289-DCC9-1923FAD72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89A74-F603-CBAB-473D-5A1A90F9E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54448-44CD-0D3E-EB7E-1C8E708F5E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02915-6EE5-7679-E688-F6151124B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64D1-F81A-DE42-A9BC-1FC492ECDBEC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41682-90B4-7C57-EE2F-009C4DBFA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9B489-B4B7-93BD-FDAD-1FCE6289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F027-9E43-0C41-82C7-0323B49D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553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77161-3EE1-4E48-FB01-B04F81674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AF7C4C-7D3C-2D3D-99F9-CE95F1423C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21CC2A-9607-AB9E-141F-7C71CFBDB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B22FA-5D3C-41C4-87BF-F5AD5C56C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64D1-F81A-DE42-A9BC-1FC492ECDBEC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F4719-7984-4FEC-51C6-1F2BAFD9E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5C94D-7D47-5FE4-E6F8-588C9A301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F027-9E43-0C41-82C7-0323B49D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12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FE8B5-5953-D1FF-F317-3AF25069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FDA76-AE7B-E3CC-C50B-951BFDFBA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DAB86-C080-C6A2-F831-914AAB32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64D1-F81A-DE42-A9BC-1FC492ECDBEC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5ABFF-E993-7AEE-B2A9-BDF74D8BB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BFD7B-E716-82A7-DC27-F0BD902A4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F027-9E43-0C41-82C7-0323B49D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3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4A3C54-28B8-20F7-EF54-0EAE2BC28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30F3F-FE5B-7CB2-CBEC-FF9E7F927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AC427-81CE-D752-1FC8-C8E800CB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B64D1-F81A-DE42-A9BC-1FC492ECDBEC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A00FC-3C45-808A-8FAA-4799D21F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361B4-B10D-A909-9EDE-CC769666B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FF027-9E43-0C41-82C7-0323B49D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98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1E603-D6B0-C1FC-803B-F77DDE56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B43D2-D98C-BDF0-5520-C2B39AAB5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16FF9-6BB1-90EA-EACF-5FEC09766F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AB64D1-F81A-DE42-A9BC-1FC492ECDBEC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62B55-0AB4-2EE6-54E1-73733C78F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B895C-7313-98BE-1FF2-F4DC46660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0FF027-9E43-0C41-82C7-0323B49D5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79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12" Type="http://schemas.openxmlformats.org/officeDocument/2006/relationships/image" Target="../media/image15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jpe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5F875D2C-C1A6-49C7-9357-2BB8FBC29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B018903-3549-4A3B-A9DF-B26757CAA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E5D3F77-D07F-4F7D-97A2-E3668302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C6F5A2D-56A0-4ED7-A3E2-3CF67608F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7E825FA-215B-0E9F-8868-BC0CBD703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276" y="458033"/>
            <a:ext cx="8866867" cy="726224"/>
          </a:xfrm>
        </p:spPr>
        <p:txBody>
          <a:bodyPr wrap="square" anchor="ctr">
            <a:normAutofit/>
          </a:bodyPr>
          <a:lstStyle/>
          <a:p>
            <a:pPr algn="l"/>
            <a:r>
              <a:rPr lang="en-US" sz="2200" dirty="0"/>
              <a:t>Happy Now Solutions LLC: Broker Portal &amp; App powered by </a:t>
            </a:r>
            <a:r>
              <a:rPr lang="en-US" sz="2200" b="1" dirty="0">
                <a:solidFill>
                  <a:srgbClr val="F7C340"/>
                </a:solidFill>
              </a:rPr>
              <a:t>H.U.M.</a:t>
            </a:r>
          </a:p>
        </p:txBody>
      </p:sp>
      <p:pic>
        <p:nvPicPr>
          <p:cNvPr id="27" name="Picture 26" descr="A screenshot of a phone&#10;&#10;AI-generated content may be incorrect.">
            <a:extLst>
              <a:ext uri="{FF2B5EF4-FFF2-40B4-BE49-F238E27FC236}">
                <a16:creationId xmlns:a16="http://schemas.microsoft.com/office/drawing/2014/main" id="{E5D4BCF6-F537-5F2E-E2BF-F40CA0888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463" y="1557339"/>
            <a:ext cx="2613600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FCA205B3-77C8-D2FF-3FA2-029F7C542A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59" t="-129" r="1771" b="-1"/>
          <a:stretch>
            <a:fillRect/>
          </a:stretch>
        </p:blipFill>
        <p:spPr>
          <a:xfrm>
            <a:off x="3398324" y="1557339"/>
            <a:ext cx="2577137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29" name="Picture 28" descr="A screenshot of a phone&#10;&#10;AI-generated content may be incorrect.">
            <a:extLst>
              <a:ext uri="{FF2B5EF4-FFF2-40B4-BE49-F238E27FC236}">
                <a16:creationId xmlns:a16="http://schemas.microsoft.com/office/drawing/2014/main" id="{17B9CEAA-A643-F525-8246-24927A3F57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31" r="3107"/>
          <a:stretch>
            <a:fillRect/>
          </a:stretch>
        </p:blipFill>
        <p:spPr>
          <a:xfrm>
            <a:off x="6217234" y="1557339"/>
            <a:ext cx="2572578" cy="4752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5" name="Picture 4" descr="A yellow smiley face with blue text&#10;&#10;AI-generated content may be incorrect.">
            <a:extLst>
              <a:ext uri="{FF2B5EF4-FFF2-40B4-BE49-F238E27FC236}">
                <a16:creationId xmlns:a16="http://schemas.microsoft.com/office/drawing/2014/main" id="{B326679E-3CC8-404A-90AA-EFEBFFD8B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752" y="4270252"/>
            <a:ext cx="2638800" cy="2038472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2571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EE133B-6D6D-518A-917D-8ABA5BF21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2972" y="1248682"/>
            <a:ext cx="3788229" cy="4351338"/>
          </a:xfrm>
          <a:ln w="28575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US" sz="1400" dirty="0"/>
              <a:t>Pricing electricity and generating deal flow is incredibly time-consuming (hours to days) due to limitations in REP capabilities and manual historical-usage processes.</a:t>
            </a:r>
          </a:p>
          <a:p>
            <a:r>
              <a:rPr lang="en-US" sz="1400" dirty="0"/>
              <a:t>Pulling historical-usage data remains a fully manual task.</a:t>
            </a:r>
          </a:p>
          <a:p>
            <a:r>
              <a:rPr lang="en-US" sz="1400" dirty="0"/>
              <a:t>Brokers are disorganized and inefficient with the current toolset.</a:t>
            </a:r>
          </a:p>
          <a:p>
            <a:r>
              <a:rPr lang="en-US" sz="1400" dirty="0"/>
              <a:t>The energy sector is highly conventional and relies on antiquated technology.</a:t>
            </a:r>
          </a:p>
          <a:p>
            <a:r>
              <a:rPr lang="en-US" sz="1400" dirty="0"/>
              <a:t>After Winter Storm Uri, price volatility surged from week-long stability to daily fluctuations.</a:t>
            </a:r>
          </a:p>
          <a:p>
            <a:r>
              <a:rPr lang="en-US" sz="1400" dirty="0"/>
              <a:t>Retail Electric Providers depend on a hodgepodge of third-party services, inflating costs and headcount.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CB2C6EF-867F-7316-F973-0EFA8BEA01FE}"/>
              </a:ext>
            </a:extLst>
          </p:cNvPr>
          <p:cNvSpPr txBox="1">
            <a:spLocks/>
          </p:cNvSpPr>
          <p:nvPr/>
        </p:nvSpPr>
        <p:spPr>
          <a:xfrm>
            <a:off x="8697686" y="5403970"/>
            <a:ext cx="3788229" cy="917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785E30-A7D4-CAD3-9A96-7FF1E0E4D992}"/>
              </a:ext>
            </a:extLst>
          </p:cNvPr>
          <p:cNvSpPr txBox="1"/>
          <p:nvPr/>
        </p:nvSpPr>
        <p:spPr>
          <a:xfrm>
            <a:off x="2002972" y="544286"/>
            <a:ext cx="3788229" cy="5847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Problems</a:t>
            </a:r>
            <a:endParaRPr lang="en-US" b="1" dirty="0"/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89B143F8-2853-2A76-0E4F-1531CE21B0BD}"/>
              </a:ext>
            </a:extLst>
          </p:cNvPr>
          <p:cNvSpPr txBox="1">
            <a:spLocks/>
          </p:cNvSpPr>
          <p:nvPr/>
        </p:nvSpPr>
        <p:spPr>
          <a:xfrm>
            <a:off x="6096000" y="1240850"/>
            <a:ext cx="378822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A44AEC6-035A-EC5D-D154-F2FCA172E210}"/>
              </a:ext>
            </a:extLst>
          </p:cNvPr>
          <p:cNvSpPr txBox="1">
            <a:spLocks/>
          </p:cNvSpPr>
          <p:nvPr/>
        </p:nvSpPr>
        <p:spPr>
          <a:xfrm>
            <a:off x="6096000" y="1240850"/>
            <a:ext cx="3788229" cy="4351338"/>
          </a:xfrm>
          <a:prstGeom prst="rect">
            <a:avLst/>
          </a:prstGeom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solid"/>
            <a:miter lim="800000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Develop an automated Historical Usage Engine.</a:t>
            </a:r>
          </a:p>
          <a:p>
            <a:r>
              <a:rPr lang="en-US" sz="1400" dirty="0"/>
              <a:t>Integrate the HUM into a state-of-the-art broker marketplace app and web portal by Happy Now Solutions LLC.</a:t>
            </a:r>
          </a:p>
          <a:p>
            <a:r>
              <a:rPr lang="en-US" sz="1400" dirty="0"/>
              <a:t>Execute both initiatives with a lean, in-house team of subject-matter experts.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9A9A664-F7F7-DA68-FE1D-B4F3E7B8AAB9}"/>
              </a:ext>
            </a:extLst>
          </p:cNvPr>
          <p:cNvSpPr txBox="1">
            <a:spLocks/>
          </p:cNvSpPr>
          <p:nvPr/>
        </p:nvSpPr>
        <p:spPr>
          <a:xfrm>
            <a:off x="7728857" y="3393167"/>
            <a:ext cx="3788229" cy="917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E3CA6A-8F3D-51AC-8443-E6647F3D6CD9}"/>
              </a:ext>
            </a:extLst>
          </p:cNvPr>
          <p:cNvSpPr txBox="1"/>
          <p:nvPr/>
        </p:nvSpPr>
        <p:spPr>
          <a:xfrm>
            <a:off x="6096000" y="536454"/>
            <a:ext cx="3788229" cy="584775"/>
          </a:xfrm>
          <a:prstGeom prst="rect">
            <a:avLst/>
          </a:prstGeom>
          <a:noFill/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Solutions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85186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map of the united states&#10;&#10;AI-generated content may be incorrect.">
            <a:extLst>
              <a:ext uri="{FF2B5EF4-FFF2-40B4-BE49-F238E27FC236}">
                <a16:creationId xmlns:a16="http://schemas.microsoft.com/office/drawing/2014/main" id="{59FB25CE-E3A2-7677-23B8-DFCD6B0AD0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5" t="2737" r="2958" b="2614"/>
          <a:stretch>
            <a:fillRect/>
          </a:stretch>
        </p:blipFill>
        <p:spPr>
          <a:xfrm>
            <a:off x="87145" y="1185526"/>
            <a:ext cx="4092970" cy="2859994"/>
          </a:xfrm>
          <a:prstGeom prst="rect">
            <a:avLst/>
          </a:prstGeom>
          <a:ln>
            <a:noFill/>
          </a:ln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42A83CE-9631-4FC6-C36E-DE3879F63176}"/>
              </a:ext>
            </a:extLst>
          </p:cNvPr>
          <p:cNvSpPr/>
          <p:nvPr/>
        </p:nvSpPr>
        <p:spPr>
          <a:xfrm>
            <a:off x="1311722" y="2817594"/>
            <a:ext cx="1110343" cy="11212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D52E09-7B15-4F4A-EF80-B6453E538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40" y="3378209"/>
            <a:ext cx="1148387" cy="42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xas Energy Utility Providers (TDUs) - Find Your Local TDSP">
            <a:extLst>
              <a:ext uri="{FF2B5EF4-FFF2-40B4-BE49-F238E27FC236}">
                <a16:creationId xmlns:a16="http://schemas.microsoft.com/office/drawing/2014/main" id="{303638CB-2C20-6B27-3B9A-35604C167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770" y="1520033"/>
            <a:ext cx="2525487" cy="2525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3DB393F-2DDD-B019-8CFB-61EEFEDF8339}"/>
              </a:ext>
            </a:extLst>
          </p:cNvPr>
          <p:cNvSpPr txBox="1"/>
          <p:nvPr/>
        </p:nvSpPr>
        <p:spPr>
          <a:xfrm>
            <a:off x="1371630" y="1000860"/>
            <a:ext cx="1524000" cy="369332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Grid Level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371255-3B5C-DDFC-752D-A672FC240BD6}"/>
              </a:ext>
            </a:extLst>
          </p:cNvPr>
          <p:cNvCxnSpPr>
            <a:cxnSpLocks/>
          </p:cNvCxnSpPr>
          <p:nvPr/>
        </p:nvCxnSpPr>
        <p:spPr>
          <a:xfrm>
            <a:off x="2895630" y="1196139"/>
            <a:ext cx="15457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6F347FD-76F8-5C4D-D04E-B744D8F8575B}"/>
              </a:ext>
            </a:extLst>
          </p:cNvPr>
          <p:cNvSpPr txBox="1"/>
          <p:nvPr/>
        </p:nvSpPr>
        <p:spPr>
          <a:xfrm>
            <a:off x="4746141" y="1000860"/>
            <a:ext cx="2525487" cy="523220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Transmission and Distribution Service Provider (TDSP) Level </a:t>
            </a:r>
          </a:p>
        </p:txBody>
      </p:sp>
      <p:pic>
        <p:nvPicPr>
          <p:cNvPr id="1032" name="Picture 8" descr="Government Clipart Images | Free Download | PNG Transparent Background -  Pngtree">
            <a:extLst>
              <a:ext uri="{FF2B5EF4-FFF2-40B4-BE49-F238E27FC236}">
                <a16:creationId xmlns:a16="http://schemas.microsoft.com/office/drawing/2014/main" id="{0A86D785-D19E-153C-24D8-CAA121CC9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546" y="119743"/>
            <a:ext cx="1094582" cy="959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Government Clipart Images | Free Download | PNG Transparent Background -  Pngtree">
            <a:extLst>
              <a:ext uri="{FF2B5EF4-FFF2-40B4-BE49-F238E27FC236}">
                <a16:creationId xmlns:a16="http://schemas.microsoft.com/office/drawing/2014/main" id="{BE9CB7EA-62E5-9D70-66B3-6EA5BD2B7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373" y="119743"/>
            <a:ext cx="1094582" cy="959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hat Is An MCA Broker? - Merchant Cash Advance - LendSaaS">
            <a:extLst>
              <a:ext uri="{FF2B5EF4-FFF2-40B4-BE49-F238E27FC236}">
                <a16:creationId xmlns:a16="http://schemas.microsoft.com/office/drawing/2014/main" id="{A1D2914E-4271-EF68-FEEC-4B0EDC174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454" y="83004"/>
            <a:ext cx="1287188" cy="128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50E1216-8E17-1058-0BF3-FBF66746ED9A}"/>
              </a:ext>
            </a:extLst>
          </p:cNvPr>
          <p:cNvCxnSpPr>
            <a:cxnSpLocks/>
          </p:cNvCxnSpPr>
          <p:nvPr/>
        </p:nvCxnSpPr>
        <p:spPr>
          <a:xfrm>
            <a:off x="7271628" y="1196139"/>
            <a:ext cx="157405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D6D2084-7561-5DF5-1D65-E04452F6CB70}"/>
              </a:ext>
            </a:extLst>
          </p:cNvPr>
          <p:cNvSpPr txBox="1"/>
          <p:nvPr/>
        </p:nvSpPr>
        <p:spPr>
          <a:xfrm>
            <a:off x="9199470" y="1240699"/>
            <a:ext cx="1839686" cy="369332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“Market” Level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25F4E3C-2272-DC0B-2D3D-7DCF91737519}"/>
              </a:ext>
            </a:extLst>
          </p:cNvPr>
          <p:cNvCxnSpPr>
            <a:cxnSpLocks/>
          </p:cNvCxnSpPr>
          <p:nvPr/>
        </p:nvCxnSpPr>
        <p:spPr>
          <a:xfrm>
            <a:off x="8595314" y="1653852"/>
            <a:ext cx="33038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6" name="Picture 12" descr="Power Plant Types Icon Set Stock Illustration - Download Image Now - Power  Station, Factory, Coal - iStock">
            <a:extLst>
              <a:ext uri="{FF2B5EF4-FFF2-40B4-BE49-F238E27FC236}">
                <a16:creationId xmlns:a16="http://schemas.microsoft.com/office/drawing/2014/main" id="{504FE720-D87C-3280-2A77-30D27BFF3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6026" y="1952541"/>
            <a:ext cx="2372044" cy="2092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D449D99-EC56-A0FF-CB9B-A8E762917737}"/>
              </a:ext>
            </a:extLst>
          </p:cNvPr>
          <p:cNvCxnSpPr>
            <a:cxnSpLocks/>
          </p:cNvCxnSpPr>
          <p:nvPr/>
        </p:nvCxnSpPr>
        <p:spPr>
          <a:xfrm>
            <a:off x="8580142" y="4194865"/>
            <a:ext cx="33038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38" name="Picture 14" descr="TXU Energy Review | TexStar Energy">
            <a:extLst>
              <a:ext uri="{FF2B5EF4-FFF2-40B4-BE49-F238E27FC236}">
                <a16:creationId xmlns:a16="http://schemas.microsoft.com/office/drawing/2014/main" id="{A5762B57-B1E3-2590-38C7-E04D1A653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089" y="4613174"/>
            <a:ext cx="1121224" cy="523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Reliant Energy — Gabriel Gamio">
            <a:extLst>
              <a:ext uri="{FF2B5EF4-FFF2-40B4-BE49-F238E27FC236}">
                <a16:creationId xmlns:a16="http://schemas.microsoft.com/office/drawing/2014/main" id="{DFB612C5-4387-B8AF-5D47-FF0483FED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030" y="4496621"/>
            <a:ext cx="1121224" cy="660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EEAFE7F-223B-5912-3291-468FCAA32404}"/>
              </a:ext>
            </a:extLst>
          </p:cNvPr>
          <p:cNvSpPr txBox="1"/>
          <p:nvPr/>
        </p:nvSpPr>
        <p:spPr>
          <a:xfrm>
            <a:off x="8845687" y="1618530"/>
            <a:ext cx="284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Generation- “Wholesale”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18696D-E3A3-E452-0B50-CA3CC910EE27}"/>
              </a:ext>
            </a:extLst>
          </p:cNvPr>
          <p:cNvSpPr txBox="1"/>
          <p:nvPr/>
        </p:nvSpPr>
        <p:spPr>
          <a:xfrm>
            <a:off x="2563633" y="276120"/>
            <a:ext cx="1727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Governed by the </a:t>
            </a:r>
            <a:r>
              <a:rPr lang="en-US" u="sng" dirty="0"/>
              <a:t>PUCT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A229F1D-EBE3-B0F4-6AA7-CE0C4F89B7F9}"/>
              </a:ext>
            </a:extLst>
          </p:cNvPr>
          <p:cNvSpPr txBox="1"/>
          <p:nvPr/>
        </p:nvSpPr>
        <p:spPr>
          <a:xfrm>
            <a:off x="8809263" y="4177092"/>
            <a:ext cx="284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“Retail” Electric Providers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21346A9-E83A-AE7F-C38D-8942DD3E8372}"/>
              </a:ext>
            </a:extLst>
          </p:cNvPr>
          <p:cNvCxnSpPr>
            <a:cxnSpLocks/>
          </p:cNvCxnSpPr>
          <p:nvPr/>
        </p:nvCxnSpPr>
        <p:spPr>
          <a:xfrm>
            <a:off x="8580142" y="6012780"/>
            <a:ext cx="330381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F97B815-D3E4-3297-3087-6BBA0D49CDE7}"/>
              </a:ext>
            </a:extLst>
          </p:cNvPr>
          <p:cNvCxnSpPr>
            <a:cxnSpLocks/>
          </p:cNvCxnSpPr>
          <p:nvPr/>
        </p:nvCxnSpPr>
        <p:spPr>
          <a:xfrm flipH="1">
            <a:off x="7496999" y="4563763"/>
            <a:ext cx="1083143" cy="7864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8D5A6B8-3A20-C0E2-7342-C489DB32269C}"/>
              </a:ext>
            </a:extLst>
          </p:cNvPr>
          <p:cNvCxnSpPr/>
          <p:nvPr/>
        </p:nvCxnSpPr>
        <p:spPr>
          <a:xfrm>
            <a:off x="8595313" y="2090057"/>
            <a:ext cx="0" cy="18487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42" name="Picture 18">
            <a:extLst>
              <a:ext uri="{FF2B5EF4-FFF2-40B4-BE49-F238E27FC236}">
                <a16:creationId xmlns:a16="http://schemas.microsoft.com/office/drawing/2014/main" id="{8FCB0C54-4B63-2597-7013-72417B187C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8089" y="5275139"/>
            <a:ext cx="2538139" cy="450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Broker icon creative element design from stock Vector Image">
            <a:extLst>
              <a:ext uri="{FF2B5EF4-FFF2-40B4-BE49-F238E27FC236}">
                <a16:creationId xmlns:a16="http://schemas.microsoft.com/office/drawing/2014/main" id="{0AA8DDFB-4FAE-0395-E688-8FE739A937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85" t="20289" r="24111" b="16517"/>
          <a:stretch>
            <a:fillRect/>
          </a:stretch>
        </p:blipFill>
        <p:spPr bwMode="auto">
          <a:xfrm>
            <a:off x="5848646" y="4874793"/>
            <a:ext cx="1357146" cy="1734423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Group of people icon team friends world diversity Vector Image">
            <a:extLst>
              <a:ext uri="{FF2B5EF4-FFF2-40B4-BE49-F238E27FC236}">
                <a16:creationId xmlns:a16="http://schemas.microsoft.com/office/drawing/2014/main" id="{4CE192C9-9334-9426-5D48-5A2BDE1C40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0" t="14594" r="15182" b="21986"/>
          <a:stretch>
            <a:fillRect/>
          </a:stretch>
        </p:blipFill>
        <p:spPr bwMode="auto">
          <a:xfrm>
            <a:off x="2819981" y="4874792"/>
            <a:ext cx="1697065" cy="1734423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5348011-0E36-C2CB-5AC5-91998938C0EE}"/>
              </a:ext>
            </a:extLst>
          </p:cNvPr>
          <p:cNvCxnSpPr>
            <a:cxnSpLocks/>
          </p:cNvCxnSpPr>
          <p:nvPr/>
        </p:nvCxnSpPr>
        <p:spPr>
          <a:xfrm flipH="1">
            <a:off x="4963886" y="4563763"/>
            <a:ext cx="3616256" cy="123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A39B792C-860C-9B70-7492-6B41F9B42F68}"/>
              </a:ext>
            </a:extLst>
          </p:cNvPr>
          <p:cNvCxnSpPr/>
          <p:nvPr/>
        </p:nvCxnSpPr>
        <p:spPr>
          <a:xfrm flipH="1">
            <a:off x="4963886" y="5500200"/>
            <a:ext cx="7620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16D05C5-BEFA-0EFC-FBC0-E0C2081974D5}"/>
              </a:ext>
            </a:extLst>
          </p:cNvPr>
          <p:cNvSpPr txBox="1"/>
          <p:nvPr/>
        </p:nvSpPr>
        <p:spPr>
          <a:xfrm>
            <a:off x="2748670" y="4428508"/>
            <a:ext cx="1839686" cy="369332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Customer Level</a:t>
            </a:r>
          </a:p>
        </p:txBody>
      </p:sp>
      <p:pic>
        <p:nvPicPr>
          <p:cNvPr id="51" name="Picture 50" descr="A yellow smiley face with black lines&#10;&#10;AI-generated content may be incorrect.">
            <a:extLst>
              <a:ext uri="{FF2B5EF4-FFF2-40B4-BE49-F238E27FC236}">
                <a16:creationId xmlns:a16="http://schemas.microsoft.com/office/drawing/2014/main" id="{918AFA6B-CAF3-8544-1655-5A29C5DB2B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22813" y="4796525"/>
            <a:ext cx="679774" cy="679774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300E28F5-8E67-13BE-3A40-5947491EBB7F}"/>
              </a:ext>
            </a:extLst>
          </p:cNvPr>
          <p:cNvSpPr txBox="1"/>
          <p:nvPr/>
        </p:nvSpPr>
        <p:spPr>
          <a:xfrm>
            <a:off x="6527219" y="277930"/>
            <a:ext cx="1727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Governed by the </a:t>
            </a:r>
            <a:r>
              <a:rPr lang="en-US" u="sng" dirty="0"/>
              <a:t>PUCT</a:t>
            </a:r>
          </a:p>
        </p:txBody>
      </p:sp>
    </p:spTree>
    <p:extLst>
      <p:ext uri="{BB962C8B-B14F-4D97-AF65-F5344CB8AC3E}">
        <p14:creationId xmlns:p14="http://schemas.microsoft.com/office/powerpoint/2010/main" val="1044635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3AE4A-9F71-4DB5-B582-0F13E366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Historical Usage?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579FF-1A91-310F-B845-D85661991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728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Past 12 months of consumption (measured in kWh) used to forecast and price accounts.</a:t>
            </a:r>
          </a:p>
          <a:p>
            <a:r>
              <a:rPr lang="en-US" b="1" dirty="0"/>
              <a:t>Customer Profiling</a:t>
            </a:r>
            <a:br>
              <a:rPr lang="en-US" dirty="0"/>
            </a:br>
            <a:r>
              <a:rPr lang="en-US" dirty="0"/>
              <a:t>Consumption data segments customers into usage tiers (residential vs. commercial).</a:t>
            </a:r>
          </a:p>
          <a:p>
            <a:r>
              <a:rPr lang="en-US" b="1" dirty="0"/>
              <a:t>Rate Differentiation</a:t>
            </a:r>
            <a:br>
              <a:rPr lang="en-US" dirty="0"/>
            </a:br>
            <a:r>
              <a:rPr lang="en-US" dirty="0"/>
              <a:t>Heavy consumers receive discounted rates based on their profile.</a:t>
            </a:r>
          </a:p>
          <a:p>
            <a:r>
              <a:rPr lang="en-US" b="1" dirty="0"/>
              <a:t>No HU? No Customization</a:t>
            </a:r>
            <a:br>
              <a:rPr lang="en-US" dirty="0"/>
            </a:br>
            <a:r>
              <a:rPr lang="en-US" dirty="0"/>
              <a:t>Accounts without historical data default to the Base Market Rate—limiting broker commissions.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08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D7017-00FC-407B-E0A0-AF851E43A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84" y="102639"/>
            <a:ext cx="8877921" cy="890149"/>
          </a:xfrm>
        </p:spPr>
        <p:txBody>
          <a:bodyPr>
            <a:normAutofit/>
          </a:bodyPr>
          <a:lstStyle/>
          <a:p>
            <a:r>
              <a:rPr lang="en-US" sz="2800" dirty="0"/>
              <a:t>HUM FLOW Comparison </a:t>
            </a:r>
          </a:p>
        </p:txBody>
      </p:sp>
      <p:pic>
        <p:nvPicPr>
          <p:cNvPr id="8" name="Content Placeholder 7" descr="A diagram of a company&#10;&#10;Description automatically generated">
            <a:extLst>
              <a:ext uri="{FF2B5EF4-FFF2-40B4-BE49-F238E27FC236}">
                <a16:creationId xmlns:a16="http://schemas.microsoft.com/office/drawing/2014/main" id="{F56B5C87-AB8D-40CB-B611-10C55C5096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92788"/>
            <a:ext cx="12127316" cy="4872423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D0662-AF79-0925-EB94-96C45FFBA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5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244681C-BD53-DD73-7C6F-3CE1F0C1C027}"/>
              </a:ext>
            </a:extLst>
          </p:cNvPr>
          <p:cNvSpPr/>
          <p:nvPr/>
        </p:nvSpPr>
        <p:spPr>
          <a:xfrm>
            <a:off x="3929742" y="138112"/>
            <a:ext cx="3777344" cy="6400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F0070-BB4C-96F4-96A1-4E027E216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8314" y="21771"/>
            <a:ext cx="2155371" cy="1052740"/>
          </a:xfrm>
        </p:spPr>
        <p:txBody>
          <a:bodyPr>
            <a:normAutofit/>
          </a:bodyPr>
          <a:lstStyle/>
          <a:p>
            <a:r>
              <a:rPr lang="en-US" sz="3600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561A-F19D-5EB8-C1FC-6B5127944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53331"/>
            <a:ext cx="10515600" cy="4351338"/>
          </a:xfrm>
          <a:ln>
            <a:solidFill>
              <a:schemeClr val="accent3">
                <a:lumMod val="60000"/>
                <a:lumOff val="40000"/>
              </a:schemeClr>
            </a:solidFill>
          </a:ln>
        </p:spPr>
        <p:txBody>
          <a:bodyPr>
            <a:normAutofit fontScale="62500" lnSpcReduction="20000"/>
          </a:bodyPr>
          <a:lstStyle/>
          <a:p>
            <a:r>
              <a:rPr lang="en-US" b="1" u="sng" dirty="0"/>
              <a:t>Garner Investment To:</a:t>
            </a:r>
            <a:endParaRPr lang="en-US" u="sng" dirty="0"/>
          </a:p>
          <a:p>
            <a:r>
              <a:rPr lang="en-US" b="1" dirty="0"/>
              <a:t>Assemble a Specialized Core Team</a:t>
            </a:r>
            <a:endParaRPr lang="en-US" dirty="0"/>
          </a:p>
          <a:p>
            <a:pPr lvl="1"/>
            <a:r>
              <a:rPr lang="en-US" dirty="0"/>
              <a:t>Recruit an ERCOT risk-management trio (15 yrs combined experience; lead with 5+ yrs)</a:t>
            </a:r>
          </a:p>
          <a:p>
            <a:pPr lvl="1"/>
            <a:r>
              <a:rPr lang="en-US" dirty="0"/>
              <a:t>Onboard five full-stack app &amp; web developers (ERCOT EDI expertise)</a:t>
            </a:r>
          </a:p>
          <a:p>
            <a:r>
              <a:rPr lang="en-US" b="1" dirty="0"/>
              <a:t>Build the HUM Platform &amp; Broker App / Portal</a:t>
            </a:r>
            <a:endParaRPr lang="en-US" dirty="0"/>
          </a:p>
          <a:p>
            <a:pPr lvl="1"/>
            <a:r>
              <a:rPr lang="en-US" dirty="0"/>
              <a:t>Architect the historical usage machine (HUM)</a:t>
            </a:r>
          </a:p>
          <a:p>
            <a:pPr lvl="1"/>
            <a:r>
              <a:rPr lang="en-US" dirty="0"/>
              <a:t>Design/develop the broker execution &amp; analytics app</a:t>
            </a:r>
          </a:p>
          <a:p>
            <a:r>
              <a:rPr lang="en-US" b="1" dirty="0"/>
              <a:t>Establish a Licensed REP</a:t>
            </a:r>
            <a:endParaRPr lang="en-US" dirty="0"/>
          </a:p>
          <a:p>
            <a:pPr lvl="1"/>
            <a:r>
              <a:rPr lang="en-US" dirty="0"/>
              <a:t>Secure Texas retail‐electric provider license</a:t>
            </a:r>
          </a:p>
          <a:p>
            <a:pPr lvl="1"/>
            <a:r>
              <a:rPr lang="en-US" dirty="0"/>
              <a:t>Stand up compliance, settlement &amp; customer support functions</a:t>
            </a:r>
          </a:p>
          <a:p>
            <a:r>
              <a:rPr lang="en-US" b="1" dirty="0"/>
              <a:t>Commercialize to Brokers &amp; REPs</a:t>
            </a:r>
            <a:endParaRPr lang="en-US" dirty="0"/>
          </a:p>
          <a:p>
            <a:pPr lvl="1"/>
            <a:r>
              <a:rPr lang="en-US" dirty="0"/>
              <a:t>Roll out pilot to in-house REP</a:t>
            </a:r>
          </a:p>
          <a:p>
            <a:pPr lvl="1"/>
            <a:r>
              <a:rPr lang="en-US" dirty="0"/>
              <a:t>Scale distribution—white-label &amp; reseller partnerships</a:t>
            </a:r>
          </a:p>
          <a:p>
            <a:r>
              <a:rPr lang="en-US" b="1" dirty="0"/>
              <a:t>Expand into Other Deregulated Markets</a:t>
            </a:r>
            <a:endParaRPr lang="en-US" dirty="0"/>
          </a:p>
          <a:p>
            <a:pPr lvl="1"/>
            <a:r>
              <a:rPr lang="en-US" dirty="0"/>
              <a:t>Target ERCOT analogues (PJM, MISO, SPP, etc.)</a:t>
            </a:r>
          </a:p>
          <a:p>
            <a:pPr lvl="1"/>
            <a:r>
              <a:rPr lang="en-US" dirty="0"/>
              <a:t>Adapt platform modules for each region’s protocols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024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</TotalTime>
  <Words>382</Words>
  <Application>Microsoft Macintosh PowerPoint</Application>
  <PresentationFormat>Widescreen</PresentationFormat>
  <Paragraphs>45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Happy Now Solutions LLC: Broker Portal &amp; App powered by H.U.M.</vt:lpstr>
      <vt:lpstr>PowerPoint Presentation</vt:lpstr>
      <vt:lpstr>PowerPoint Presentation</vt:lpstr>
      <vt:lpstr>What is Historical Usage?</vt:lpstr>
      <vt:lpstr>HUM FLOW Comparison </vt:lpstr>
      <vt:lpstr>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Cooper Marshall</dc:creator>
  <cp:lastModifiedBy>Cooper Marshall</cp:lastModifiedBy>
  <cp:revision>1</cp:revision>
  <dcterms:created xsi:type="dcterms:W3CDTF">2025-07-08T00:31:28Z</dcterms:created>
  <dcterms:modified xsi:type="dcterms:W3CDTF">2025-07-08T04:29:25Z</dcterms:modified>
</cp:coreProperties>
</file>